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8"/>
  </p:notesMasterIdLst>
  <p:handoutMasterIdLst>
    <p:handoutMasterId r:id="rId9"/>
  </p:handoutMasterIdLst>
  <p:sldIdLst>
    <p:sldId id="262" r:id="rId3"/>
    <p:sldId id="291" r:id="rId4"/>
    <p:sldId id="288" r:id="rId5"/>
    <p:sldId id="298" r:id="rId6"/>
    <p:sldId id="299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Virginia Tech" id="{EF1B8CD1-4DC2-4694-BC1F-6CF013FB394E}">
          <p14:sldIdLst>
            <p14:sldId id="262"/>
            <p14:sldId id="291"/>
            <p14:sldId id="288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6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04F27E-8229-41CF-A8A8-ACC0C4F785B8}">
  <a:tblStyle styleId="{5604F27E-8229-41CF-A8A8-ACC0C4F785B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00" autoAdjust="0"/>
    <p:restoredTop sz="86395"/>
  </p:normalViewPr>
  <p:slideViewPr>
    <p:cSldViewPr snapToGrid="0">
      <p:cViewPr>
        <p:scale>
          <a:sx n="81" d="100"/>
          <a:sy n="81" d="100"/>
        </p:scale>
        <p:origin x="544" y="3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33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877CD0-59AE-0B91-C022-8989D3A6EE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439E6-E15E-9632-3EDD-B63313219B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353E7-12BF-5647-A30A-46B82BF798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920AF-5C38-98CB-1FDA-70D4A8FF49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04BF4-1590-D89F-247E-86617859B8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91077-78FF-BC47-83F5-0F73CA15E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5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0000"/>
            <a:lumOff val="40000"/>
          </a:schemeClr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1" name="Google Shape;481;p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" name="Google Shape;390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E4D1E503-EFA6-74F0-3E42-7141A99B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:notes">
            <a:extLst>
              <a:ext uri="{FF2B5EF4-FFF2-40B4-BE49-F238E27FC236}">
                <a16:creationId xmlns:a16="http://schemas.microsoft.com/office/drawing/2014/main" id="{37612B31-B2D6-38C3-134E-BC5E20370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" name="Google Shape;390;p33:notes">
            <a:extLst>
              <a:ext uri="{FF2B5EF4-FFF2-40B4-BE49-F238E27FC236}">
                <a16:creationId xmlns:a16="http://schemas.microsoft.com/office/drawing/2014/main" id="{3D00BA00-A00F-A327-C844-B234C8B6E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33:notes">
            <a:extLst>
              <a:ext uri="{FF2B5EF4-FFF2-40B4-BE49-F238E27FC236}">
                <a16:creationId xmlns:a16="http://schemas.microsoft.com/office/drawing/2014/main" id="{0A3B9BCF-A9DD-23D9-7C88-EE289B2A42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94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AB3DD535-4021-D124-8098-C2762644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:notes">
            <a:extLst>
              <a:ext uri="{FF2B5EF4-FFF2-40B4-BE49-F238E27FC236}">
                <a16:creationId xmlns:a16="http://schemas.microsoft.com/office/drawing/2014/main" id="{3852D9C4-67A8-FB83-119F-9B7B10560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" name="Google Shape;390;p33:notes">
            <a:extLst>
              <a:ext uri="{FF2B5EF4-FFF2-40B4-BE49-F238E27FC236}">
                <a16:creationId xmlns:a16="http://schemas.microsoft.com/office/drawing/2014/main" id="{C4056A36-B877-77EF-EF32-FBBBF9976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33:notes">
            <a:extLst>
              <a:ext uri="{FF2B5EF4-FFF2-40B4-BE49-F238E27FC236}">
                <a16:creationId xmlns:a16="http://schemas.microsoft.com/office/drawing/2014/main" id="{2DE9D23C-C429-8429-B53D-A61DFAC150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693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 background" userDrawn="1">
  <p:cSld name="white corner logo, maroon corner">
    <p:bg>
      <p:bgPr>
        <a:solidFill>
          <a:srgbClr val="FFFFFF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607" y="-643262"/>
            <a:ext cx="12223214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838200" y="2620451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4059" y="-6100"/>
            <a:ext cx="2940214" cy="87589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28836" y="257770"/>
            <a:ext cx="2053002" cy="3877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F8F44-B635-4FCB-8D18-224854E87C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4491038"/>
            <a:ext cx="5661025" cy="544512"/>
          </a:xfrm>
        </p:spPr>
        <p:txBody>
          <a:bodyPr/>
          <a:lstStyle>
            <a:lvl1pPr marL="50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388248-0E75-42A8-A19A-2B4C7ECE9F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60438" y="5208588"/>
            <a:ext cx="5661025" cy="544512"/>
          </a:xfrm>
        </p:spPr>
        <p:txBody>
          <a:bodyPr/>
          <a:lstStyle>
            <a:lvl1pPr marL="50800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mpty background alt footer">
  <p:cSld name="1_maroon background">
    <p:bg>
      <p:bgPr>
        <a:solidFill>
          <a:schemeClr val="dk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607" y="-643262"/>
            <a:ext cx="12223214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838200" y="5064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ay graphic empty background">
  <p:cSld name="maroon background, main logo corner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6623" y="6278880"/>
            <a:ext cx="1719412" cy="32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mpty background alt footer" userDrawn="1">
  <p:cSld name="1_maroon background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607" y="-643262"/>
            <a:ext cx="12223214" cy="814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accent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4440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27688-F886-429D-A4EF-D615E67DCB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60294"/>
            <a:ext cx="10515600" cy="402776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180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508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838200" y="2138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"/>
          <p:cNvSpPr txBox="1">
            <a:spLocks noGrp="1"/>
          </p:cNvSpPr>
          <p:nvPr>
            <p:ph type="title"/>
          </p:nvPr>
        </p:nvSpPr>
        <p:spPr>
          <a:xfrm>
            <a:off x="1436913" y="2848006"/>
            <a:ext cx="82852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r">
              <a:buClr>
                <a:schemeClr val="lt1"/>
              </a:buClr>
              <a:buSzPts val="5400"/>
            </a:pPr>
            <a:r>
              <a:rPr lang="en-US" sz="5400" dirty="0">
                <a:solidFill>
                  <a:schemeClr val="lt1"/>
                </a:solidFill>
              </a:rPr>
              <a:t>TX References</a:t>
            </a:r>
          </a:p>
        </p:txBody>
      </p:sp>
      <p:sp>
        <p:nvSpPr>
          <p:cNvPr id="2" name="Author">
            <a:extLst>
              <a:ext uri="{FF2B5EF4-FFF2-40B4-BE49-F238E27FC236}">
                <a16:creationId xmlns:a16="http://schemas.microsoft.com/office/drawing/2014/main" id="{EF307A02-42FC-48EE-B45C-BC911F3896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206686"/>
            <a:ext cx="8883997" cy="658735"/>
          </a:xfrm>
        </p:spPr>
        <p:txBody>
          <a:bodyPr/>
          <a:lstStyle/>
          <a:p>
            <a:pPr marL="50800" indent="0" algn="r">
              <a:buNone/>
            </a:pPr>
            <a:r>
              <a:rPr lang="en-US" sz="3000" dirty="0">
                <a:latin typeface="Arial"/>
                <a:ea typeface="Arial"/>
                <a:cs typeface="Arial"/>
                <a:sym typeface="Arial"/>
              </a:rPr>
              <a:t>Eliot Turner</a:t>
            </a:r>
          </a:p>
        </p:txBody>
      </p:sp>
      <p:pic>
        <p:nvPicPr>
          <p:cNvPr id="114" name="Virginia Tech Logo" descr="Virginia Tec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2837" y="2240542"/>
            <a:ext cx="2351529" cy="444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AB5C540-3C91-01A5-B2A6-5FC1EDD726E2}"/>
              </a:ext>
            </a:extLst>
          </p:cNvPr>
          <p:cNvSpPr/>
          <p:nvPr/>
        </p:nvSpPr>
        <p:spPr>
          <a:xfrm>
            <a:off x="2885946" y="1370655"/>
            <a:ext cx="3120702" cy="490518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Title"/>
          <p:cNvSpPr txBox="1">
            <a:spLocks noGrp="1"/>
          </p:cNvSpPr>
          <p:nvPr>
            <p:ph type="title"/>
          </p:nvPr>
        </p:nvSpPr>
        <p:spPr>
          <a:xfrm>
            <a:off x="212404" y="-137194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2"/>
              </a:buClr>
              <a:buSzPts val="4400"/>
            </a:pPr>
            <a:r>
              <a:rPr lang="en-US" sz="4400" dirty="0">
                <a:solidFill>
                  <a:srgbClr val="3A3C3D"/>
                </a:solidFill>
                <a:latin typeface="Arial"/>
                <a:cs typeface="Arial"/>
              </a:rPr>
              <a:t>Our Proposed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FA811E-097C-89C5-33FB-261D223DF75A}"/>
              </a:ext>
            </a:extLst>
          </p:cNvPr>
          <p:cNvSpPr/>
          <p:nvPr/>
        </p:nvSpPr>
        <p:spPr>
          <a:xfrm>
            <a:off x="3498572" y="1736033"/>
            <a:ext cx="1921565" cy="927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ADAR1000 #1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476533-5214-8E08-9663-E89CB4191DFB}"/>
              </a:ext>
            </a:extLst>
          </p:cNvPr>
          <p:cNvSpPr/>
          <p:nvPr/>
        </p:nvSpPr>
        <p:spPr>
          <a:xfrm>
            <a:off x="3498572" y="3359424"/>
            <a:ext cx="1921565" cy="927652"/>
          </a:xfrm>
          <a:prstGeom prst="rect">
            <a:avLst/>
          </a:prstGeom>
          <a:solidFill>
            <a:srgbClr val="C64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ADAR1000 #2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C4DB0-A212-758F-861B-D843DC15D94C}"/>
              </a:ext>
            </a:extLst>
          </p:cNvPr>
          <p:cNvSpPr/>
          <p:nvPr/>
        </p:nvSpPr>
        <p:spPr>
          <a:xfrm>
            <a:off x="3498571" y="4982815"/>
            <a:ext cx="1921565" cy="92765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ADF4159 PLL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CF199A-76AE-C6EB-5E70-B6BE98560712}"/>
              </a:ext>
            </a:extLst>
          </p:cNvPr>
          <p:cNvSpPr/>
          <p:nvPr/>
        </p:nvSpPr>
        <p:spPr>
          <a:xfrm>
            <a:off x="662608" y="1227708"/>
            <a:ext cx="1921565" cy="508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Spi0</a:t>
            </a:r>
          </a:p>
          <a:p>
            <a:pPr algn="ctr"/>
            <a:r>
              <a:rPr lang="en-US" dirty="0"/>
              <a:t>(MISO, MOSI, CLK)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6B9CA5B-9970-93A3-C1EC-044E12890740}"/>
              </a:ext>
            </a:extLst>
          </p:cNvPr>
          <p:cNvCxnSpPr>
            <a:stCxn id="6" idx="2"/>
            <a:endCxn id="3" idx="1"/>
          </p:cNvCxnSpPr>
          <p:nvPr/>
        </p:nvCxnSpPr>
        <p:spPr>
          <a:xfrm rot="16200000" flipH="1">
            <a:off x="2329068" y="1030355"/>
            <a:ext cx="463826" cy="18751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311F9FF-D951-291E-79A1-710555E192C3}"/>
              </a:ext>
            </a:extLst>
          </p:cNvPr>
          <p:cNvCxnSpPr>
            <a:cxnSpLocks/>
            <a:stCxn id="6" idx="2"/>
            <a:endCxn id="4" idx="1"/>
          </p:cNvCxnSpPr>
          <p:nvPr/>
        </p:nvCxnSpPr>
        <p:spPr>
          <a:xfrm rot="16200000" flipH="1">
            <a:off x="1517373" y="1842050"/>
            <a:ext cx="2087217" cy="187518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A5B725F0-7B39-BFE8-10AE-1DF2F272B891}"/>
              </a:ext>
            </a:extLst>
          </p:cNvPr>
          <p:cNvCxnSpPr>
            <a:cxnSpLocks/>
            <a:stCxn id="6" idx="2"/>
            <a:endCxn id="5" idx="1"/>
          </p:cNvCxnSpPr>
          <p:nvPr/>
        </p:nvCxnSpPr>
        <p:spPr>
          <a:xfrm rot="16200000" flipH="1">
            <a:off x="705677" y="2653747"/>
            <a:ext cx="3710608" cy="187518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64ED1-2650-DC95-4C4B-55425BC6B219}"/>
              </a:ext>
            </a:extLst>
          </p:cNvPr>
          <p:cNvSpPr/>
          <p:nvPr/>
        </p:nvSpPr>
        <p:spPr>
          <a:xfrm>
            <a:off x="8116954" y="4167803"/>
            <a:ext cx="1921565" cy="927652"/>
          </a:xfrm>
          <a:prstGeom prst="rect">
            <a:avLst/>
          </a:prstGeom>
          <a:solidFill>
            <a:srgbClr val="C64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Aux ADAR1000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7AAE06B-7688-CCD6-9E68-80E83C1D6A06}"/>
              </a:ext>
            </a:extLst>
          </p:cNvPr>
          <p:cNvCxnSpPr>
            <a:cxnSpLocks/>
            <a:stCxn id="6" idx="2"/>
            <a:endCxn id="15" idx="1"/>
          </p:cNvCxnSpPr>
          <p:nvPr/>
        </p:nvCxnSpPr>
        <p:spPr>
          <a:xfrm rot="16200000" flipH="1">
            <a:off x="3422374" y="-62951"/>
            <a:ext cx="2895596" cy="649356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31CA6-2E7C-5749-F14D-1AD26A72BC95}"/>
              </a:ext>
            </a:extLst>
          </p:cNvPr>
          <p:cNvSpPr/>
          <p:nvPr/>
        </p:nvSpPr>
        <p:spPr>
          <a:xfrm>
            <a:off x="7745704" y="1736032"/>
            <a:ext cx="921026" cy="496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CS0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4FBDBA-E491-CC4E-8559-892726AA2E13}"/>
              </a:ext>
            </a:extLst>
          </p:cNvPr>
          <p:cNvSpPr/>
          <p:nvPr/>
        </p:nvSpPr>
        <p:spPr>
          <a:xfrm>
            <a:off x="9011472" y="1736031"/>
            <a:ext cx="921026" cy="4960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CS1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E06B24-2FB8-F716-803F-B0DCCD9EBD1F}"/>
              </a:ext>
            </a:extLst>
          </p:cNvPr>
          <p:cNvSpPr/>
          <p:nvPr/>
        </p:nvSpPr>
        <p:spPr>
          <a:xfrm>
            <a:off x="10277241" y="1736031"/>
            <a:ext cx="921026" cy="49601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CS2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ED0720-2DB3-DC17-14D9-7B74D139E4BB}"/>
              </a:ext>
            </a:extLst>
          </p:cNvPr>
          <p:cNvSpPr txBox="1"/>
          <p:nvPr/>
        </p:nvSpPr>
        <p:spPr>
          <a:xfrm>
            <a:off x="7809510" y="1141238"/>
            <a:ext cx="3324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Chip Select Legend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0FCA492E-E724-BEC1-238C-EAE6F8F7BC44}"/>
              </a:ext>
            </a:extLst>
          </p:cNvPr>
          <p:cNvSpPr txBox="1">
            <a:spLocks/>
          </p:cNvSpPr>
          <p:nvPr/>
        </p:nvSpPr>
        <p:spPr>
          <a:xfrm>
            <a:off x="212404" y="-137194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206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2"/>
              </a:buClr>
              <a:buSzPts val="4400"/>
            </a:pPr>
            <a:r>
              <a:rPr lang="en-US" sz="4400" dirty="0">
                <a:solidFill>
                  <a:srgbClr val="3A3C3D"/>
                </a:solidFill>
                <a:latin typeface="Arial"/>
                <a:cs typeface="Arial"/>
              </a:rPr>
              <a:t>Necessary Hardware Modification</a:t>
            </a:r>
          </a:p>
        </p:txBody>
      </p:sp>
      <p:pic>
        <p:nvPicPr>
          <p:cNvPr id="1026" name="Picture 2" descr="CN0566 Circuit Note | Analog Devices">
            <a:extLst>
              <a:ext uri="{FF2B5EF4-FFF2-40B4-BE49-F238E27FC236}">
                <a16:creationId xmlns:a16="http://schemas.microsoft.com/office/drawing/2014/main" id="{9611E2CE-7A2B-5551-59DD-1F51947A2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9307" y="2010506"/>
            <a:ext cx="5758677" cy="393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D1EC414-2865-66D6-6CFD-F93401CECCB0}"/>
              </a:ext>
            </a:extLst>
          </p:cNvPr>
          <p:cNvSpPr/>
          <p:nvPr/>
        </p:nvSpPr>
        <p:spPr>
          <a:xfrm>
            <a:off x="4354285" y="3385455"/>
            <a:ext cx="287383" cy="73369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96EC2C2-0F7A-E64F-F898-5B0922C78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735" y="2072602"/>
            <a:ext cx="3770157" cy="3359401"/>
          </a:xfrm>
          <a:prstGeom prst="rect">
            <a:avLst/>
          </a:prstGeom>
          <a:noFill/>
          <a:ln w="38100"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AF8162-509A-BB88-AE78-1B145BBE6151}"/>
              </a:ext>
            </a:extLst>
          </p:cNvPr>
          <p:cNvCxnSpPr>
            <a:cxnSpLocks/>
            <a:stCxn id="14" idx="3"/>
            <a:endCxn id="1030" idx="1"/>
          </p:cNvCxnSpPr>
          <p:nvPr/>
        </p:nvCxnSpPr>
        <p:spPr>
          <a:xfrm flipV="1">
            <a:off x="4641668" y="3752303"/>
            <a:ext cx="2494067" cy="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>
            <a:extLst>
              <a:ext uri="{FF2B5EF4-FFF2-40B4-BE49-F238E27FC236}">
                <a16:creationId xmlns:a16="http://schemas.microsoft.com/office/drawing/2014/main" id="{E987A6F6-A316-C638-14C0-617087127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479" y="4614828"/>
            <a:ext cx="1962733" cy="138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C55F9B-C05B-4C9C-C76B-22042AD58267}"/>
              </a:ext>
            </a:extLst>
          </p:cNvPr>
          <p:cNvSpPr txBox="1"/>
          <p:nvPr/>
        </p:nvSpPr>
        <p:spPr>
          <a:xfrm>
            <a:off x="4449949" y="594786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8AC2F-AA68-953B-24C8-C1B1BAF15672}"/>
              </a:ext>
            </a:extLst>
          </p:cNvPr>
          <p:cNvSpPr txBox="1"/>
          <p:nvPr/>
        </p:nvSpPr>
        <p:spPr>
          <a:xfrm>
            <a:off x="10646123" y="543988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4FD483-D3F1-45F6-E271-C2F457D9A9E5}"/>
              </a:ext>
            </a:extLst>
          </p:cNvPr>
          <p:cNvSpPr txBox="1"/>
          <p:nvPr/>
        </p:nvSpPr>
        <p:spPr>
          <a:xfrm>
            <a:off x="6620037" y="594787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1F198AE8-6E2D-0881-9D4D-622498CD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A80043-72CB-0AC6-A8C9-D2A85C3BFF9D}"/>
              </a:ext>
            </a:extLst>
          </p:cNvPr>
          <p:cNvSpPr txBox="1">
            <a:spLocks/>
          </p:cNvSpPr>
          <p:nvPr/>
        </p:nvSpPr>
        <p:spPr>
          <a:xfrm>
            <a:off x="212404" y="-137194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206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2"/>
              </a:buClr>
              <a:buSzPts val="4400"/>
            </a:pPr>
            <a:r>
              <a:rPr lang="en-US" sz="4400" dirty="0">
                <a:solidFill>
                  <a:srgbClr val="3A3C3D"/>
                </a:solidFill>
                <a:latin typeface="Arial"/>
                <a:cs typeface="Arial"/>
              </a:rPr>
              <a:t>Device Tree Changes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B84B1C-DE29-C2AD-45C6-9A8DD153F3B5}"/>
              </a:ext>
            </a:extLst>
          </p:cNvPr>
          <p:cNvSpPr txBox="1"/>
          <p:nvPr/>
        </p:nvSpPr>
        <p:spPr>
          <a:xfrm>
            <a:off x="728663" y="1135202"/>
            <a:ext cx="69580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&amp;spi0 {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/* Onboard ADAR #1 */ 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/* ADAR #2 + AUX */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adar1000@1 {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compatible = "adi,adar1000";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reg = &lt;1&gt;; 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#address-cells = &lt;1&gt;; 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#size-cells = &lt;0&gt;; 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adar1000_1@0 {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    label = "BEAM1";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    reg = &lt;0&gt;;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   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adi,phasetable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-name = "adar1000_std_phasetable";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    };</a:t>
            </a:r>
          </a:p>
          <a:p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adar1000_1@1 {</a:t>
            </a:r>
          </a:p>
          <a:p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label = "BEAM2";</a:t>
            </a:r>
          </a:p>
          <a:p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reg = &lt;1&gt;;</a:t>
            </a:r>
          </a:p>
          <a:p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    </a:t>
            </a:r>
            <a:r>
              <a:rPr lang="en-US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adi,phasetable</a:t>
            </a:r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-name = "adar1000_std_phasetable";</a:t>
            </a:r>
          </a:p>
          <a:p>
            <a:r>
              <a:rPr lang="en-US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    };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   };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};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F42893-9DA8-41F5-7DF0-36A217ACD71F}"/>
              </a:ext>
            </a:extLst>
          </p:cNvPr>
          <p:cNvSpPr/>
          <p:nvPr/>
        </p:nvSpPr>
        <p:spPr>
          <a:xfrm>
            <a:off x="9559764" y="1275068"/>
            <a:ext cx="2136936" cy="4953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1842B0-F52B-AFA0-F905-093AE8A921DA}"/>
              </a:ext>
            </a:extLst>
          </p:cNvPr>
          <p:cNvSpPr/>
          <p:nvPr/>
        </p:nvSpPr>
        <p:spPr>
          <a:xfrm>
            <a:off x="9559764" y="1922768"/>
            <a:ext cx="2136936" cy="495300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Existing Device Tree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88DEB3EC-5C57-EDE6-B269-E84A35449890}"/>
              </a:ext>
            </a:extLst>
          </p:cNvPr>
          <p:cNvSpPr/>
          <p:nvPr/>
        </p:nvSpPr>
        <p:spPr>
          <a:xfrm>
            <a:off x="6385031" y="3766691"/>
            <a:ext cx="307428" cy="87625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9EF7EA9-4209-1AB4-2826-FF17782CDC50}"/>
              </a:ext>
            </a:extLst>
          </p:cNvPr>
          <p:cNvSpPr/>
          <p:nvPr/>
        </p:nvSpPr>
        <p:spPr>
          <a:xfrm>
            <a:off x="6385031" y="4846544"/>
            <a:ext cx="307428" cy="87625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69E135-CF46-D0E1-7BDE-1C16065C6588}"/>
              </a:ext>
            </a:extLst>
          </p:cNvPr>
          <p:cNvSpPr txBox="1"/>
          <p:nvPr/>
        </p:nvSpPr>
        <p:spPr>
          <a:xfrm>
            <a:off x="6719836" y="4004763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csb1_chip0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9D9A27-2137-6382-4254-7FDF73708C47}"/>
              </a:ext>
            </a:extLst>
          </p:cNvPr>
          <p:cNvSpPr txBox="1"/>
          <p:nvPr/>
        </p:nvSpPr>
        <p:spPr>
          <a:xfrm>
            <a:off x="6719836" y="5084616"/>
            <a:ext cx="1627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csb1_chip1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BB196F-7455-8C81-BD01-A559FFF03D6D}"/>
              </a:ext>
            </a:extLst>
          </p:cNvPr>
          <p:cNvSpPr txBox="1"/>
          <p:nvPr/>
        </p:nvSpPr>
        <p:spPr>
          <a:xfrm>
            <a:off x="8972209" y="4348798"/>
            <a:ext cx="2710999" cy="92333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On Auxiliary ADAR1000:</a:t>
            </a:r>
          </a:p>
          <a:p>
            <a:r>
              <a:rPr lang="en-US" sz="1800" dirty="0"/>
              <a:t>ADDR1 = LOW</a:t>
            </a:r>
          </a:p>
          <a:p>
            <a:r>
              <a:rPr lang="en-US" sz="1800" dirty="0"/>
              <a:t>ADDR0 = HIGH</a:t>
            </a:r>
          </a:p>
        </p:txBody>
      </p:sp>
    </p:spTree>
    <p:extLst>
      <p:ext uri="{BB962C8B-B14F-4D97-AF65-F5344CB8AC3E}">
        <p14:creationId xmlns:p14="http://schemas.microsoft.com/office/powerpoint/2010/main" val="45875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>
          <a:extLst>
            <a:ext uri="{FF2B5EF4-FFF2-40B4-BE49-F238E27FC236}">
              <a16:creationId xmlns:a16="http://schemas.microsoft.com/office/drawing/2014/main" id="{82783B09-163C-B960-EF3E-E6130110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9255E825-449F-1285-7412-1EDC6633A850}"/>
              </a:ext>
            </a:extLst>
          </p:cNvPr>
          <p:cNvSpPr txBox="1">
            <a:spLocks/>
          </p:cNvSpPr>
          <p:nvPr/>
        </p:nvSpPr>
        <p:spPr>
          <a:xfrm>
            <a:off x="212404" y="-137194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206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3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2"/>
              </a:buClr>
              <a:buSzPts val="4400"/>
            </a:pPr>
            <a:r>
              <a:rPr lang="en-US" sz="4400" dirty="0">
                <a:solidFill>
                  <a:srgbClr val="3A3C3D"/>
                </a:solidFill>
                <a:latin typeface="Arial"/>
                <a:cs typeface="Arial"/>
              </a:rPr>
              <a:t>Image Citations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E3A90-1CB5-E995-681F-E33C1D4D79AC}"/>
              </a:ext>
            </a:extLst>
          </p:cNvPr>
          <p:cNvSpPr txBox="1"/>
          <p:nvPr/>
        </p:nvSpPr>
        <p:spPr>
          <a:xfrm>
            <a:off x="468101" y="1316505"/>
            <a:ext cx="107096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Verdana" panose="020B0604030504040204" pitchFamily="34" charset="0"/>
              </a:rPr>
              <a:t>[1] Analog Devices, “</a:t>
            </a:r>
            <a:r>
              <a:rPr lang="en-US" dirty="0">
                <a:latin typeface="+mj-lt"/>
              </a:rPr>
              <a:t>EVAL-CN0566-RPIZ KIT - Angle View</a:t>
            </a:r>
            <a:r>
              <a:rPr lang="en-US" dirty="0">
                <a:latin typeface="+mj-lt"/>
                <a:ea typeface="Verdana" panose="020B0604030504040204" pitchFamily="34" charset="0"/>
              </a:rPr>
              <a:t>,” on *CN0566 Circuit Note | Circuits from the Lab*, https://www.analog.com/en/resources/reference-designs/circuits-from-the-lab/cn0566.html#rd-overview (accessed Feb. 10, 2026).</a:t>
            </a:r>
          </a:p>
          <a:p>
            <a:endParaRPr lang="en-US" dirty="0">
              <a:latin typeface="+mj-lt"/>
              <a:ea typeface="Verdana" panose="020B0604030504040204" pitchFamily="34" charset="0"/>
            </a:endParaRPr>
          </a:p>
          <a:p>
            <a:r>
              <a:rPr lang="en-US" dirty="0">
                <a:latin typeface="+mj-lt"/>
                <a:ea typeface="Verdana" panose="020B0604030504040204" pitchFamily="34" charset="0"/>
              </a:rPr>
              <a:t>[2] Analog Devices, “EVAL-CN0566-RPIZ Phased Array Development Kit Schematic,” on *CN0566 Circuit Note | Circuits from the Lab*, https://www.analog.com/en/resources/reference-designs/circuits-from-the-lab/cn0566.html#rd-overview (accessed Feb. 10, 2026).</a:t>
            </a:r>
            <a:br>
              <a:rPr lang="en-US" dirty="0">
                <a:latin typeface="+mj-lt"/>
                <a:ea typeface="Verdana" panose="020B0604030504040204" pitchFamily="34" charset="0"/>
              </a:rPr>
            </a:br>
            <a:br>
              <a:rPr lang="en-US" dirty="0">
                <a:latin typeface="+mj-lt"/>
                <a:ea typeface="Verdana" panose="020B0604030504040204" pitchFamily="34" charset="0"/>
              </a:rPr>
            </a:br>
            <a:r>
              <a:rPr lang="en-US" dirty="0">
                <a:latin typeface="+mj-lt"/>
                <a:ea typeface="Verdana" panose="020B0604030504040204" pitchFamily="34" charset="0"/>
              </a:rPr>
              <a:t>[3] PE Connectors, “Pin Headers Straight 1x Row .100 Image,” *PE Connectors – Pin Headers Straight 1x Row .100*, https://www.peconnectors.com/pin-headers-straight-1x-row-.100/hws9166/ (accessed Feb. 10, 2026).</a:t>
            </a:r>
          </a:p>
        </p:txBody>
      </p:sp>
    </p:spTree>
    <p:extLst>
      <p:ext uri="{BB962C8B-B14F-4D97-AF65-F5344CB8AC3E}">
        <p14:creationId xmlns:p14="http://schemas.microsoft.com/office/powerpoint/2010/main" val="19698456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861F41"/>
      </a:dk1>
      <a:lt1>
        <a:srgbClr val="FFFFFF"/>
      </a:lt1>
      <a:dk2>
        <a:srgbClr val="75787B"/>
      </a:dk2>
      <a:lt2>
        <a:srgbClr val="E5E1E6"/>
      </a:lt2>
      <a:accent1>
        <a:srgbClr val="861F41"/>
      </a:accent1>
      <a:accent2>
        <a:srgbClr val="C64600"/>
      </a:accent2>
      <a:accent3>
        <a:srgbClr val="A5A5A5"/>
      </a:accent3>
      <a:accent4>
        <a:srgbClr val="508590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2">
      <a:dk1>
        <a:srgbClr val="861F41"/>
      </a:dk1>
      <a:lt1>
        <a:srgbClr val="FFFFFF"/>
      </a:lt1>
      <a:dk2>
        <a:srgbClr val="75787B"/>
      </a:dk2>
      <a:lt2>
        <a:srgbClr val="E5E1E6"/>
      </a:lt2>
      <a:accent1>
        <a:srgbClr val="861F41"/>
      </a:accent1>
      <a:accent2>
        <a:srgbClr val="C64600"/>
      </a:accent2>
      <a:accent3>
        <a:srgbClr val="A5A5A5"/>
      </a:accent3>
      <a:accent4>
        <a:srgbClr val="508590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6C1035"/>
      </a:dk1>
      <a:lt1>
        <a:srgbClr val="5C6C66"/>
      </a:lt1>
      <a:dk2>
        <a:srgbClr val="A7A7A7"/>
      </a:dk2>
      <a:lt2>
        <a:srgbClr val="535353"/>
      </a:lt2>
      <a:accent1>
        <a:srgbClr val="6C1035"/>
      </a:accent1>
      <a:accent2>
        <a:srgbClr val="E57631"/>
      </a:accent2>
      <a:accent3>
        <a:srgbClr val="A5A5A5"/>
      </a:accent3>
      <a:accent4>
        <a:srgbClr val="417C79"/>
      </a:accent4>
      <a:accent5>
        <a:srgbClr val="E5E1EF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7102</TotalTime>
  <Words>341</Words>
  <Application>Microsoft Office PowerPoint</Application>
  <PresentationFormat>Widescreen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Verdana</vt:lpstr>
      <vt:lpstr>1_Office Theme</vt:lpstr>
      <vt:lpstr>1_Office Theme</vt:lpstr>
      <vt:lpstr>TX References</vt:lpstr>
      <vt:lpstr>Our Proposed Architecture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 1/3</dc:title>
  <dc:creator>Schlieper, Elizabeth</dc:creator>
  <cp:lastModifiedBy>Turner, Eliot</cp:lastModifiedBy>
  <cp:revision>92</cp:revision>
  <dcterms:modified xsi:type="dcterms:W3CDTF">2026-02-10T14:21:48Z</dcterms:modified>
</cp:coreProperties>
</file>